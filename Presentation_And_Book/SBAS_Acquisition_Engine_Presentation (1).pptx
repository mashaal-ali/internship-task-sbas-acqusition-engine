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81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7315200" cy="731520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1E447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869680" y="-1280160"/>
            <a:ext cx="5852160" cy="5852160"/>
          </a:xfrm>
          <a:prstGeom prst="ellipse">
            <a:avLst/>
          </a:prstGeom>
          <a:ln w="12700">
            <a:solidFill>
              <a:srgbClr val="2C5A8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256032" cy="256032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Space Augmentation System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(SBAS) Acquisition Engine for L1 C/A Signal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RTL Pipeline: PRN → Carrier NCO → Code NCO → Multiplier → Accumulator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Mashaal Ali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901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SBAS &amp; the L1 C/A signal actually are, and why acquisition matters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28800" y="353872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RTL modules that work together: PRN, Carrier NCO, Code NCO, Multiplier, Accumulator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77240" y="4197096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Proof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4745736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validated on the Arty Z7-20 FPGA using a logic analyzer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4041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77240" y="5404104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5522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595274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 into a working acquisition engine + AI-assisted novelty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L1 C/A Signal?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SBAS satellites </a:t>
            </a: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 Based Augmentation Systems) sit in Geostationary orbit (~35,786 km) and broadcast correction signals that improve GPS accuracy for aviation and ground users.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C/A (Coarse/Acquisition) </a:t>
            </a: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signal structure carried on the 1575.42 MHz L1 frequency. Every satellite transmits a unique 1023-chip digital pattern (PRN code) that repeats every 1 millisecond — like a fingerprint.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74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receiver must find this fingerprint in a noisy, weak, Doppler-shifted signal before it can compute position. That process is called Acquisition.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MUST DETERMINE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514600"/>
            <a:ext cx="411480" cy="411480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85800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5236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27980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satellite's signal here at all?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3474720"/>
            <a:ext cx="411480" cy="411480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8580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52360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Phase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52360" y="37581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delay of the PRN 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4434840"/>
            <a:ext cx="411480" cy="411480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85800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4370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Shift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2360" y="47183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offset from satellite motion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5349240"/>
            <a:ext cx="4572000" cy="0"/>
          </a:xfrm>
          <a:prstGeom prst="line">
            <a:avLst/>
          </a:prstGeom>
          <a:noFill/>
          <a:ln w="12700">
            <a:solidFill>
              <a:srgbClr val="2C5A8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76656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25–30 dB-Hz C/N0 — a much weaker signal than terrestrial GPS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matching a key to a lock. The FPGA builds its own local copy of the satellite's carrier and code, then checks how well it matches the incoming signal.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33472" y="3310128"/>
            <a:ext cx="265176" cy="237744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92608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92608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Local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Replica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19472" y="3310128"/>
            <a:ext cx="265176" cy="237744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521208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Local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Replica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05472" y="3310128"/>
            <a:ext cx="265176" cy="237744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Sum over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1023 chips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491472" y="3310128"/>
            <a:ext cx="265176" cy="237744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9784080" y="2743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978408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(correct satellite, timing, Doppler): </a:t>
            </a: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add up constructively → large, consistent sum.
</a:t>
            </a: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match: </a:t>
            </a: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random +/- values → they cancel out → sum stays near zero.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5-step chain is what our 5 RTL modules implement in hardware — covered next.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5-Stage RTL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F4F8FB"/>
          </a:solidFill>
          <a:ln w="254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271016" y="23317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27101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Generator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5844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gps_ca_top.v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96896" y="3026664"/>
            <a:ext cx="118872" cy="256032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724912" y="210312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F4F8FB"/>
          </a:solidFill>
          <a:ln w="254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493008" y="233172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493008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16352" y="30175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NCO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16352" y="35844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nco_top.v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18888" y="3026664"/>
            <a:ext cx="118872" cy="256032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946904" y="210312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F4F8FB"/>
          </a:solidFill>
          <a:ln w="2540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715000" y="233172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7150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38344" y="30175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NCO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38344" y="35844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gps_code_nco.v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40880" y="3026664"/>
            <a:ext cx="118872" cy="256032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7168896" y="210312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F4F8FB"/>
          </a:solidFill>
          <a:ln w="25400">
            <a:solidFill>
              <a:srgbClr val="EE6C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936992" y="2331720"/>
            <a:ext cx="548640" cy="54864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793699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60336" y="30175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0336" y="35844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mult3x3 / mult4x2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62872" y="3026664"/>
            <a:ext cx="118872" cy="256032"/>
          </a:xfrm>
          <a:prstGeom prst="right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9390888" y="2103120"/>
            <a:ext cx="2084832" cy="2103120"/>
          </a:xfrm>
          <a:prstGeom prst="roundRect">
            <a:avLst>
              <a:gd name="adj" fmla="val 4386"/>
            </a:avLst>
          </a:prstGeom>
          <a:solidFill>
            <a:srgbClr val="F4F8FB"/>
          </a:solidFill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10158984" y="233172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10158984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82328" y="301752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482328" y="35844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accumulator_1ms.v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was designed, simulated in ModelSim, and independently validated on real FPGA hardware (Arty Z7-20) before integration.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" y="5166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</a:t>
            </a: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satellite code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24912" y="5166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off </a:t>
            </a: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frequency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46904" y="5166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</a:t>
            </a: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chip rate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68896" y="5166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</a:t>
            </a: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match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90888" y="516636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</a:t>
            </a: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presence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Code Generator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each satellite's unique 1023-chip “fingerprint” code, per the GPS ICD specification.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LFSR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6040" y="240487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10-bit shift register that continuously generates one half of the Gold code sequence.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LFSR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336499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10-bit shift register generating the complementary sequence.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731520" y="432511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Selector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43251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specific taps of G2 (a unique pair per satellite, 1–32+) to produce that satellite's exact code.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731520" y="528523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52852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prn_code = G1 output XOR selected G2 taps — the final chip stream.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2331720"/>
            <a:ext cx="4297680" cy="3840480"/>
          </a:xfrm>
          <a:prstGeom prst="roundRect">
            <a:avLst>
              <a:gd name="adj" fmla="val 238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7635240" y="26517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63524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46920" y="26517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964692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46920" y="379476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9646920" y="37947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4892040"/>
            <a:ext cx="640080" cy="640080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36676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3474720"/>
            <a:ext cx="0" cy="1417320"/>
          </a:xfrm>
          <a:prstGeom prst="line">
            <a:avLst/>
          </a:prstGeom>
          <a:noFill/>
          <a:ln w="19050">
            <a:solidFill>
              <a:srgbClr val="AEC6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10424160" y="3474720"/>
            <a:ext cx="0" cy="320040"/>
          </a:xfrm>
          <a:prstGeom prst="line">
            <a:avLst/>
          </a:prstGeom>
          <a:noFill/>
          <a:ln w="19050">
            <a:solidFill>
              <a:srgbClr val="AEC6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8686800" y="5212080"/>
            <a:ext cx="1737360" cy="0"/>
          </a:xfrm>
          <a:prstGeom prst="line">
            <a:avLst/>
          </a:prstGeom>
          <a:noFill/>
          <a:ln w="19050">
            <a:solidFill>
              <a:srgbClr val="AEC6E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763524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prn_code (1 bit / chip)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NCO (Numerically Controlled Oscillator)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local sine/cosine (I/Q) replica of the satellite's carrier wave, used to strip off the carrier frequency and Doppler shift from the incoming signal.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760720" cy="3566160"/>
          </a:xfrm>
          <a:prstGeom prst="roundRect">
            <a:avLst>
              <a:gd name="adj" fmla="val 256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phase accumulator steps through a lookup table at a fixed rate
• Outputs I_out (cosine) and Q_out (sine), 3-bit signed samples
• Target output frequency: 4.092 MHz, from a 16.368 MHz system clock
• Multiplying the incoming signal by this I/Q pair shifts the carrier down to baseband — removing it from the signal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60604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8580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HARDWARE VALIDATED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329184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Digilent Arty Z7-20 (Zynq-7020)
</a:t>
            </a:r>
            <a:r>
              <a:rPr lang="en-US" sz="16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generated via Vivado Clocking Wizard (MMCM), routed to Pmod JA, captured on an 8-channel logic analyzer.
Result: sign-bit output toggled exactly every 4 clock cycles — matching Fclk/Fout = 16.368/4.092 = 4, confirmed both by direct cycle-counting and time-domain cursor measurement.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NCO — Chip-Rate Timing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precise timing pulse that tells the PRN Generator exactly when to shift to the next code chip.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760720" cy="3840480"/>
          </a:xfrm>
          <a:prstGeom prst="roundRect">
            <a:avLst>
              <a:gd name="adj" fmla="val 238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32-bit phase accumulator adds a fixed Frequency Tuning Word (FTW) every clock cycle:
</a:t>
            </a:r>
            <a:r>
              <a:rPr lang="en-US" sz="1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FTW = 2³⁰  (chosen so the accumulator overflows exactly once every 8 clocks)
</a:t>
            </a: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code_tick pulses HIGH for one cycle on that overflow — an exact divide-by-8 of the system clock.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33172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8580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30175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16.368 MHz ÷ 8 = 2.046 MHz
</a:t>
            </a:r>
            <a:r>
              <a:rPr lang="en-US" sz="14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by simulation (Python model of the exact accumulator logic)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on FPGA hardware: logic analyzer confirmed exactly 8 clock cycles between every code_tick pulse, and measured period matched ≈ 2.0–2.08 MHz within instrument resolution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— The Correlation Math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signed multipliers perform the actual “check for a match” step: multiplying the incoming samples by the local carrier and code replicas.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8FB"/>
          </a:solidFill>
          <a:ln w="1905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mult3x3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× 3-bit signed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the Carrier NCO output (I/Q) by the sign-mapped PRN code chip (+1 / –1)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4231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4F8FB"/>
          </a:solidFill>
          <a:ln w="19050">
            <a:solidFill>
              <a:srgbClr val="1B9AA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mult4x2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× 2-bit signed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second-stage multiply used further down the correlation chain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SIGN-MAGNITUDE APPROACH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9379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multipliers are synchronous (registered), so results stay in step with the clock. Sign bit + magnitude are computed separately, multiplied, then re-combined — a hardware-efficient technique for small signed operands.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— 1ms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every multiplier output across one full 1023-chip / 1ms code period — turning thousands of small products into one decisive number.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760720" cy="3794760"/>
          </a:xfrm>
          <a:prstGeom prst="roundRect">
            <a:avLst>
              <a:gd name="adj" fmla="val 2410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SUMMING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2120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single multiplier sample is too small/noisy to trust
• Correct match → products consistently add in the same direction → total grows large
• Wrong match → products are random +/– → they cancel toward zero (noise averages out)
• An external ms_interrupt pulse marks the 1ms boundary; the 16-bit total latches to ACCUMDATA and the internal sum resets for the next window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377440"/>
            <a:ext cx="5029200" cy="3794760"/>
          </a:xfrm>
          <a:prstGeom prst="roundRect">
            <a:avLst>
              <a:gd name="adj" fmla="val 241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8580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3017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ACCUMDATA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0" y="36576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correlation value the whole pipeline exists to produce.
</a:t>
            </a: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value  </a:t>
            </a:r>
            <a:r>
              <a:rPr lang="en-US" sz="16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signal acquired: satellite present, code phase + Doppler estimated
</a:t>
            </a: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value  </a:t>
            </a:r>
            <a:r>
              <a:rPr lang="en-US" sz="16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match at this search point → try next code phase / Doppler bin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Acquisition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572768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IF Signal Sample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2368296"/>
            <a:ext cx="274320" cy="256032"/>
          </a:xfrm>
          <a:prstGeom prst="downArrow">
            <a:avLst>
              <a:gd name="adj1" fmla="val 43333"/>
              <a:gd name="adj2" fmla="val 50000"/>
            </a:avLst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737360" y="260604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1920240" y="262432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NCO  →  I/Q wipe-off (Multiplier)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3300984"/>
            <a:ext cx="274320" cy="256032"/>
          </a:xfrm>
          <a:prstGeom prst="down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737360" y="355701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B9AA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920240" y="355701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Generator (timed by Code NCO)  →  code wipe-off (Multiplier)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4233672"/>
            <a:ext cx="274320" cy="256032"/>
          </a:xfrm>
          <a:prstGeom prst="down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1737360" y="4489704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920240" y="448970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 →  sums over 1023 chips / 1ms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5166360"/>
            <a:ext cx="274320" cy="256032"/>
          </a:xfrm>
          <a:prstGeom prst="downArrow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737360" y="5422392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920240" y="542239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ACCUMDATA compared to threshold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60220" y="6400800"/>
            <a:ext cx="4160520" cy="4572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737360" y="6199632"/>
            <a:ext cx="41605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FOUND → Acquired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36792" y="6400800"/>
            <a:ext cx="4160520" cy="457200"/>
          </a:xfrm>
          <a:prstGeom prst="roundRect">
            <a:avLst>
              <a:gd name="adj" fmla="val 10667"/>
            </a:avLst>
          </a:prstGeom>
          <a:solidFill>
            <a:srgbClr val="8A1C1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382512" y="6231636"/>
            <a:ext cx="4160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Peak → Try Next Search Point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Validated on Real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029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NCO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 = Fclk / 4 (4.092 MHz)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analyzer, cycle-count + timing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0" y="2240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cycles confirmed 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1064240" cy="777240"/>
          </a:xfrm>
          <a:prstGeom prst="rect">
            <a:avLst/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NCO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274320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code_tick = Fclk / 8 (2.046 MHz)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analyzer, cycle-count + timing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0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cycles confirmed 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Generation</a:t>
            </a:r>
            <a:endParaRPr lang="en-US" sz="1600" b="1" dirty="0"/>
          </a:p>
        </p:txBody>
      </p:sp>
      <p:sp>
        <p:nvSpPr>
          <p:cNvPr id="21" name="Text 19"/>
          <p:cNvSpPr/>
          <p:nvPr/>
        </p:nvSpPr>
        <p:spPr>
          <a:xfrm>
            <a:off x="274320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MHz onboard → 16.368 MHz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3794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Clocking Wizard (MMCM)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3794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&amp; verified 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used: Digilent Arty Z7-20 (Zynq-7020), Vivado 2020+ IP Integrator (Block Design), 8-channel Saleae-compatible logic analyzer.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was cross-checked two ways: direct clock-cycle counting (frequency-independent) and time-domain cursor measurement — giving high confidence the RTL logic is correct, independent of any single measurement's precision.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Novelty: AI-Assisted Adaptive Acquisition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acquisition engine uses a fixed, static search grid (Doppler range + dwell time) regardless of conditions — wasting time in good conditions and missing weak signals in bad 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(Validated Modules)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PRN generator (any satellite, 1–32+)
✓ Carrier NCO — I/Q carrier wipe-off
✓ Code NCO — precise chip timing
✓ Multiplier — correlation math
✓ Accumulator — 1ms integration
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hardware-validated on Arty Z7-20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606040"/>
            <a:ext cx="5532120" cy="3566160"/>
          </a:xfrm>
          <a:prstGeom prst="roundRect">
            <a:avLst>
              <a:gd name="adj" fmla="val 256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35508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(AI-Assisted Novelty)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320040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 lightweight, synthesizable AI decision agent embedded in FPGA logic
</a:t>
            </a:r>
            <a:r>
              <a:rPr lang="en-US" sz="1300" dirty="0">
                <a:solidFill>
                  <a:srgbClr val="C9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Monitors SNR &amp; Doppler uncertainty in real time
▸ Auto-scales the search grid and dwell time on the fly — instead of a fixed, static search
▸ Bridges intelligent software algorithms with real-time FPGA hardware execution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Achieved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and simulated all five core RTL modules of an SBAS L1 C/A acquisition engine
• Independently validated Carrier NCO and Code NCO timing on real FPGA hardware
• Learned the full Vivado hardware bring-up flow: Block Design, Clocking Wizard, constraints, bitstream, logic-analyzer verification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28016" cy="128016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5 modules into one top-level correlator on hardware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28016" cy="128016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 1023-chip / 1ms correlation with recorded/simulated GNSS IF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28016" cy="128016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AI-assisted adaptive search-space controller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28016" cy="128016"/>
          </a:xfrm>
          <a:prstGeom prst="ellipse">
            <a:avLst/>
          </a:prstGeom>
          <a:solidFill>
            <a:srgbClr val="EE6C4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68680" y="5349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single-satellite validation toward the full acquisition search grid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3315C"/>
          </a:solidFill>
          <a:ln w="19050">
            <a:solidFill>
              <a:srgbClr val="1E447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206240"/>
            <a:ext cx="2011680" cy="0"/>
          </a:xfrm>
          <a:prstGeom prst="line">
            <a:avLst/>
          </a:prstGeom>
          <a:noFill/>
          <a:ln w="38100">
            <a:solidFill>
              <a:srgbClr val="EE6C4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Mashaal Ali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SBAS Acquisition Engine for L1 C/A Signal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1728</Words>
  <Application>Microsoft Office PowerPoint</Application>
  <PresentationFormat>Widescreen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Mashaal Ali</cp:lastModifiedBy>
  <cp:revision>5</cp:revision>
  <dcterms:created xsi:type="dcterms:W3CDTF">2026-07-30T11:53:20Z</dcterms:created>
  <dcterms:modified xsi:type="dcterms:W3CDTF">2026-07-31T04:00:44Z</dcterms:modified>
</cp:coreProperties>
</file>